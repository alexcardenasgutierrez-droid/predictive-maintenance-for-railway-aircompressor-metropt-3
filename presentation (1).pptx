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9404164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30352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640080"/>
            <a:ext cx="475488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274320" y="1280160"/>
            <a:ext cx="47548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Railway Air Compressor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1920240"/>
            <a:ext cx="4114800" cy="36576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2057400"/>
            <a:ext cx="47548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MetroPT-3 Dataset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74320" y="2743200"/>
            <a:ext cx="3200400" cy="45720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274320" y="274320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Goal: Predict compressor failures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3520440"/>
            <a:ext cx="1371600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365760" y="3611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15.2M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6576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2011680" y="3520440"/>
            <a:ext cx="1371600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011680" y="3611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201168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657600" y="3520440"/>
            <a:ext cx="1371600" cy="1097280"/>
          </a:xfrm>
          <a:prstGeom prst="rect">
            <a:avLst/>
          </a:prstGeom>
          <a:solidFill>
            <a:srgbClr val="1B4F7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657600" y="36118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1.97%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657600" y="4160520"/>
            <a:ext cx="1371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failures</a:t>
            </a:r>
            <a:endParaRPr lang="en-US" sz="1100" dirty="0"/>
          </a:p>
        </p:txBody>
      </p:sp>
      <p:pic>
        <p:nvPicPr>
          <p:cNvPr id="19" name="Image 0" descr="/home/claude/Sensors_ti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394960" y="0"/>
            <a:ext cx="3749040" cy="5143500"/>
          </a:xfrm>
          <a:prstGeom prst="rect">
            <a:avLst/>
          </a:prstGeom>
        </p:spPr>
      </p:pic>
      <p:sp>
        <p:nvSpPr>
          <p:cNvPr id="20" name="Shape 17"/>
          <p:cNvSpPr/>
          <p:nvPr/>
        </p:nvSpPr>
        <p:spPr>
          <a:xfrm>
            <a:off x="5394960" y="0"/>
            <a:ext cx="3749040" cy="5143500"/>
          </a:xfrm>
          <a:prstGeom prst="rect">
            <a:avLst/>
          </a:prstGeom>
          <a:solidFill>
            <a:srgbClr val="0D1B2A">
              <a:alpha val="45000"/>
            </a:srgbClr>
          </a:solidFill>
          <a:ln w="12700">
            <a:solidFill>
              <a:srgbClr val="0D1B2A">
                <a:alpha val="45000"/>
              </a:srgbClr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394960" y="4480560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Readings Over Time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Description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365760" y="105156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09728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15,169,948 rows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44475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per sensor event (~10 sec)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201168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057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  March – August 2020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502920" y="240487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operational data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97180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01752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🔢  17 columns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02920" y="33649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analog + 8 digital + timestamp + target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3931920"/>
            <a:ext cx="384048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02920" y="39776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No missing data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02920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duplicated rows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754880" y="100584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Types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4754880" y="1463040"/>
            <a:ext cx="73152" cy="6858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828032" y="146304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56048" y="150876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Analog Sensors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956048" y="181051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Pressure, Temperature, Motor Current — Numerical continuous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4754880" y="2331720"/>
            <a:ext cx="73152" cy="68580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828032" y="233172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56048" y="237744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Digital Sensors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956048" y="267919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COMP, DV_eletric, Towers, MPG... — Boolean (0/1)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4754880" y="3200400"/>
            <a:ext cx="73152" cy="6858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828032" y="320040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956048" y="324612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Target: Failure</a:t>
            </a:r>
            <a:endParaRPr lang="en-US" sz="1200" dirty="0"/>
          </a:p>
        </p:txBody>
      </p:sp>
      <p:sp>
        <p:nvSpPr>
          <p:cNvPr id="29" name="Text 27"/>
          <p:cNvSpPr/>
          <p:nvPr/>
        </p:nvSpPr>
        <p:spPr>
          <a:xfrm>
            <a:off x="4956048" y="354787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Binary — 1 during failure windows, 0 otherwise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754880" y="4069080"/>
            <a:ext cx="73152" cy="6858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828032" y="4069080"/>
            <a:ext cx="393192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2" name="Text 30"/>
          <p:cNvSpPr/>
          <p:nvPr/>
        </p:nvSpPr>
        <p:spPr>
          <a:xfrm>
            <a:off x="4956048" y="4114800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956048" y="4416552"/>
            <a:ext cx="37490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Timestamp column — chronological structure is key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Core Challenge: Class Imbalance</a:t>
            </a:r>
            <a:endParaRPr lang="en-US" sz="2600" dirty="0"/>
          </a:p>
        </p:txBody>
      </p:sp>
      <p:pic>
        <p:nvPicPr>
          <p:cNvPr id="5" name="Image 0" descr="/home/claude/class-imbal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486400" cy="29260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035040" y="100584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035040" y="10972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98.03%</a:t>
            </a:r>
            <a:endParaRPr lang="en-US" sz="3600" dirty="0"/>
          </a:p>
        </p:txBody>
      </p:sp>
      <p:sp>
        <p:nvSpPr>
          <p:cNvPr id="8" name="Text 5"/>
          <p:cNvSpPr/>
          <p:nvPr/>
        </p:nvSpPr>
        <p:spPr>
          <a:xfrm>
            <a:off x="6035040" y="16916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 samples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6035040" y="2377440"/>
            <a:ext cx="283464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035040" y="2468880"/>
            <a:ext cx="28346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1.97%</a:t>
            </a:r>
            <a:endParaRPr lang="en-US" sz="3600" dirty="0"/>
          </a:p>
        </p:txBody>
      </p:sp>
      <p:sp>
        <p:nvSpPr>
          <p:cNvPr id="11" name="Text 8"/>
          <p:cNvSpPr/>
          <p:nvPr/>
        </p:nvSpPr>
        <p:spPr>
          <a:xfrm>
            <a:off x="6035040" y="3063240"/>
            <a:ext cx="2834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samples</a:t>
            </a:r>
            <a:endParaRPr lang="en-US" sz="1200" dirty="0"/>
          </a:p>
        </p:txBody>
      </p:sp>
      <p:sp>
        <p:nvSpPr>
          <p:cNvPr id="12" name="Shape 9"/>
          <p:cNvSpPr/>
          <p:nvPr/>
        </p:nvSpPr>
        <p:spPr>
          <a:xfrm>
            <a:off x="274320" y="4023360"/>
            <a:ext cx="8595360" cy="777240"/>
          </a:xfrm>
          <a:prstGeom prst="rect">
            <a:avLst/>
          </a:prstGeom>
          <a:solidFill>
            <a:srgbClr val="FFF3C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365760" y="4041648"/>
            <a:ext cx="841248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7D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Accuracy is misleading here! A model predicting everything as 'Normal' gets 98% accuracy — but catches ZERO failures. We must focus on Recall and F1 for Class 1.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Sensor Readings Over Time</a:t>
            </a:r>
            <a:endParaRPr lang="en-US" sz="2600" dirty="0"/>
          </a:p>
        </p:txBody>
      </p:sp>
      <p:pic>
        <p:nvPicPr>
          <p:cNvPr id="5" name="Image 0" descr="/home/claude/Sensors_tim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94360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92240" y="1005840"/>
            <a:ext cx="24688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Insights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6492240" y="1508760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583680" y="158191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🔴  Red shaded areas mark failure periods across all sensors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6492240" y="2331720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583680" y="240487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📉  DV_pressure spikes clearly before failures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6492240" y="3154680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6583680" y="322783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🌡️  Oil_temperature rises steadily pre-failure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492240" y="3977640"/>
            <a:ext cx="2468880" cy="68580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6583680" y="4050792"/>
            <a:ext cx="2286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⏱️  Time gaps visible — train stops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Sensor Behavior Before Failure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27432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1</a:t>
            </a:r>
            <a:endParaRPr lang="en-US" sz="1300" dirty="0"/>
          </a:p>
        </p:txBody>
      </p:sp>
      <p:pic>
        <p:nvPicPr>
          <p:cNvPr id="6" name="Image 0" descr="/home/claude/failure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1234440"/>
            <a:ext cx="4114800" cy="35661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754880" y="91440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Failure 2</a:t>
            </a:r>
            <a:endParaRPr lang="en-US" sz="1300" dirty="0"/>
          </a:p>
        </p:txBody>
      </p:sp>
      <p:pic>
        <p:nvPicPr>
          <p:cNvPr id="8" name="Image 1" descr="/home/claude/failure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1234440"/>
            <a:ext cx="4114800" cy="35661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274320" y="4754880"/>
            <a:ext cx="8595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i="1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vertical line marks the exact moment the failure begins — sensors show clear pattern changes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EDA — Normal vs Pre-Failure vs Failure &amp; Correlation</a:t>
            </a:r>
            <a:endParaRPr lang="en-US" sz="2300" dirty="0"/>
          </a:p>
        </p:txBody>
      </p:sp>
      <p:pic>
        <p:nvPicPr>
          <p:cNvPr id="5" name="Image 0" descr="/home/claude/values_failure_normal_prefailur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4389120" cy="4023360"/>
          </a:xfrm>
          <a:prstGeom prst="rect">
            <a:avLst/>
          </a:prstGeom>
        </p:spPr>
      </p:pic>
      <p:pic>
        <p:nvPicPr>
          <p:cNvPr id="6" name="Image 1" descr="/home/claude/correlation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754880" y="914400"/>
            <a:ext cx="4206240" cy="4023360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274320" y="868680"/>
            <a:ext cx="4389120" cy="2743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274320" y="86868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Values by Period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4754880" y="868680"/>
            <a:ext cx="4206240" cy="274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0" name="Text 6"/>
          <p:cNvSpPr/>
          <p:nvPr/>
        </p:nvSpPr>
        <p:spPr>
          <a:xfrm>
            <a:off x="4754880" y="868680"/>
            <a:ext cx="4206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Correlation Matrix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Modeling Approach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1508760" cy="128016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274320" y="10515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📅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508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Split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1783080" y="1554480"/>
            <a:ext cx="228600" cy="914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011680" y="1005840"/>
            <a:ext cx="1508760" cy="12801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011680" y="10515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⚖️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2011680" y="1508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520440" y="1554480"/>
            <a:ext cx="228600" cy="914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749040" y="1005840"/>
            <a:ext cx="1508760" cy="128016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749040" y="10515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🌲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3749040" y="1508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Forest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5257800" y="1554480"/>
            <a:ext cx="228600" cy="914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486400" y="1005840"/>
            <a:ext cx="1508760" cy="128016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5486400" y="10515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5486400" y="1508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Tuning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995160" y="1554480"/>
            <a:ext cx="228600" cy="91440"/>
          </a:xfrm>
          <a:prstGeom prst="rect">
            <a:avLst/>
          </a:prstGeom>
          <a:solidFill>
            <a:srgbClr val="374151"/>
          </a:solidFill>
          <a:ln w="12700">
            <a:solidFill>
              <a:srgbClr val="374151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223760" y="1005840"/>
            <a:ext cx="1508760" cy="128016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7223760" y="1051560"/>
            <a:ext cx="15087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7223760" y="1508760"/>
            <a:ext cx="1508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1 only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274320" y="251460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457200" y="2606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Chronological Split?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57200" y="3063240"/>
            <a:ext cx="365760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Time series data cannot be shuffled
• Future data must never leak into training
• Train on failures 1,2,3 → Test on failure 4
• This is how real predictive maintenance works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514600"/>
            <a:ext cx="42976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4754880" y="260604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Custom Threshold (0.15)?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4754880" y="3063240"/>
            <a:ext cx="3931920" cy="1645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Default 0.5 catches almost no failures
• Model max probability: ~0.42 on rare events
• Lower threshold = more failures caught
• Missing a failure &gt;&gt; false alarm cost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Resampling Strategies Tested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28600" y="1005840"/>
            <a:ext cx="1554480" cy="502920"/>
          </a:xfrm>
          <a:prstGeom prst="rect">
            <a:avLst/>
          </a:prstGeom>
          <a:solidFill>
            <a:srgbClr val="1B4F72"/>
          </a:solidFill>
          <a:ln w="12700">
            <a:solidFill>
              <a:srgbClr val="1B4F7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28600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Baseline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28600" y="150876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5544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Chronological split only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0.15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28600" y="2606040"/>
            <a:ext cx="15544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228600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228600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0.495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28600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28600" y="3493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0.508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984248" y="1005840"/>
            <a:ext cx="1554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984248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50/50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984248" y="150876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029968" y="15544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Randomly removes majority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to balance classes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1984248" y="2606040"/>
            <a:ext cx="15544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984248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20" name="Text 18"/>
          <p:cNvSpPr/>
          <p:nvPr/>
        </p:nvSpPr>
        <p:spPr>
          <a:xfrm>
            <a:off x="1984248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0.737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984248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984248" y="3493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0.398</a:t>
            </a:r>
            <a:endParaRPr lang="en-US" sz="1800" dirty="0"/>
          </a:p>
        </p:txBody>
      </p:sp>
      <p:sp>
        <p:nvSpPr>
          <p:cNvPr id="23" name="Shape 21"/>
          <p:cNvSpPr/>
          <p:nvPr/>
        </p:nvSpPr>
        <p:spPr>
          <a:xfrm>
            <a:off x="3739896" y="1005840"/>
            <a:ext cx="1554480" cy="5029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3739896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Undersample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70/30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3739896" y="150876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785616" y="15544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 aggressive — keeps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more majority data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3739896" y="2606040"/>
            <a:ext cx="15544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3739896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739896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0.736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3739896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739896" y="3493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0.428</a:t>
            </a:r>
            <a:endParaRPr lang="en-US" sz="1800" dirty="0"/>
          </a:p>
        </p:txBody>
      </p:sp>
      <p:sp>
        <p:nvSpPr>
          <p:cNvPr id="32" name="Shape 30"/>
          <p:cNvSpPr/>
          <p:nvPr/>
        </p:nvSpPr>
        <p:spPr>
          <a:xfrm>
            <a:off x="5495544" y="1005840"/>
            <a:ext cx="1554480" cy="5029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495544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0.05 ⭐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5495544" y="150876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5541264" y="15544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Creates synthetic minority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samples — BEST RESULT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5495544" y="2606040"/>
            <a:ext cx="15544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5495544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38" name="Text 36"/>
          <p:cNvSpPr/>
          <p:nvPr/>
        </p:nvSpPr>
        <p:spPr>
          <a:xfrm>
            <a:off x="5495544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</a:t>
            </a: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5495544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5495544" y="3493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0.634</a:t>
            </a:r>
            <a:endParaRPr lang="en-US" sz="1800" dirty="0"/>
          </a:p>
        </p:txBody>
      </p:sp>
      <p:sp>
        <p:nvSpPr>
          <p:cNvPr id="41" name="Shape 39"/>
          <p:cNvSpPr/>
          <p:nvPr/>
        </p:nvSpPr>
        <p:spPr>
          <a:xfrm>
            <a:off x="7251192" y="1005840"/>
            <a:ext cx="1554480" cy="5029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251192" y="1005840"/>
            <a:ext cx="1554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SMOTETomek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0.05</a:t>
            </a:r>
            <a:endParaRPr lang="en-US" sz="1100" dirty="0"/>
          </a:p>
        </p:txBody>
      </p:sp>
      <p:sp>
        <p:nvSpPr>
          <p:cNvPr id="43" name="Shape 41"/>
          <p:cNvSpPr/>
          <p:nvPr/>
        </p:nvSpPr>
        <p:spPr>
          <a:xfrm>
            <a:off x="7251192" y="1508760"/>
            <a:ext cx="15544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296912" y="1554480"/>
            <a:ext cx="1463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+ cleans noisy</a:t>
            </a:r>
            <a:endParaRPr lang="en-US" sz="950" dirty="0"/>
          </a:p>
          <a:p>
            <a:pPr marL="0" indent="0">
              <a:buNone/>
            </a:pPr>
            <a:r>
              <a:rPr lang="en-US" sz="950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border samples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7251192" y="2606040"/>
            <a:ext cx="1554480" cy="137160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46" name="Text 44"/>
          <p:cNvSpPr/>
          <p:nvPr/>
        </p:nvSpPr>
        <p:spPr>
          <a:xfrm>
            <a:off x="7251192" y="269748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900" dirty="0"/>
          </a:p>
        </p:txBody>
      </p:sp>
      <p:sp>
        <p:nvSpPr>
          <p:cNvPr id="47" name="Text 45"/>
          <p:cNvSpPr/>
          <p:nvPr/>
        </p:nvSpPr>
        <p:spPr>
          <a:xfrm>
            <a:off x="7251192" y="294436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0.624</a:t>
            </a:r>
            <a:endParaRPr lang="en-US" sz="1800" dirty="0"/>
          </a:p>
        </p:txBody>
      </p:sp>
      <p:sp>
        <p:nvSpPr>
          <p:cNvPr id="48" name="Text 46"/>
          <p:cNvSpPr/>
          <p:nvPr/>
        </p:nvSpPr>
        <p:spPr>
          <a:xfrm>
            <a:off x="7251192" y="3291840"/>
            <a:ext cx="1554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</a:t>
            </a:r>
            <a:endParaRPr lang="en-US" sz="900" dirty="0"/>
          </a:p>
        </p:txBody>
      </p:sp>
      <p:sp>
        <p:nvSpPr>
          <p:cNvPr id="49" name="Text 47"/>
          <p:cNvSpPr/>
          <p:nvPr/>
        </p:nvSpPr>
        <p:spPr>
          <a:xfrm>
            <a:off x="7251192" y="3493008"/>
            <a:ext cx="1554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0.608</a:t>
            </a:r>
            <a:endParaRPr lang="en-US" sz="1800" dirty="0"/>
          </a:p>
        </p:txBody>
      </p:sp>
      <p:sp>
        <p:nvSpPr>
          <p:cNvPr id="50" name="Shape 48"/>
          <p:cNvSpPr/>
          <p:nvPr/>
        </p:nvSpPr>
        <p:spPr>
          <a:xfrm>
            <a:off x="228600" y="4389120"/>
            <a:ext cx="8686800" cy="548640"/>
          </a:xfrm>
          <a:prstGeom prst="rect">
            <a:avLst/>
          </a:prstGeom>
          <a:solidFill>
            <a:srgbClr val="EFF6FF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365760" y="4407408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💡  SMOTE wins: it creates synthetic minority samples instead of deleting data, preserving more information for the model to learn from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 Engineering &amp; Feature Importance</a:t>
            </a:r>
            <a:endParaRPr lang="en-US" sz="2600" dirty="0"/>
          </a:p>
        </p:txBody>
      </p:sp>
      <p:pic>
        <p:nvPicPr>
          <p:cNvPr id="5" name="Image 0" descr="/home/claude/feature_importanc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029200" cy="3931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577840" y="1005840"/>
            <a:ext cx="3291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Engineered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5577840" y="1508760"/>
            <a:ext cx="64008" cy="7315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641848" y="1508760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5742432" y="155448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low-importance features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742432" y="185623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second, minute, Pressure_switch, Oil_level, Caudal_impulses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5577840" y="2377440"/>
            <a:ext cx="64008" cy="7315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5641848" y="2377440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5742432" y="242316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Dropped correlated features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5742432" y="272491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TP3, LPS, MPG, COMP — highly correlated with others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5577840" y="3246120"/>
            <a:ext cx="64008" cy="7315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5641848" y="3246120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5742432" y="329184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 optimization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5742432" y="359359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float64→float32, int64→bool — 2x memory reduction</a:t>
            </a:r>
            <a:endParaRPr lang="en-US" sz="900" dirty="0"/>
          </a:p>
        </p:txBody>
      </p:sp>
      <p:sp>
        <p:nvSpPr>
          <p:cNvPr id="19" name="Shape 16"/>
          <p:cNvSpPr/>
          <p:nvPr/>
        </p:nvSpPr>
        <p:spPr>
          <a:xfrm>
            <a:off x="5577840" y="4114800"/>
            <a:ext cx="64008" cy="73152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0" name="Shape 17"/>
          <p:cNvSpPr/>
          <p:nvPr/>
        </p:nvSpPr>
        <p:spPr>
          <a:xfrm>
            <a:off x="5641848" y="4114800"/>
            <a:ext cx="324612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Text 18"/>
          <p:cNvSpPr/>
          <p:nvPr/>
        </p:nvSpPr>
        <p:spPr>
          <a:xfrm>
            <a:off x="5742432" y="4160520"/>
            <a:ext cx="3063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features found</a:t>
            </a:r>
            <a:endParaRPr lang="en-US" sz="1100" dirty="0"/>
          </a:p>
        </p:txBody>
      </p:sp>
      <p:sp>
        <p:nvSpPr>
          <p:cNvPr id="22" name="Text 19"/>
          <p:cNvSpPr/>
          <p:nvPr/>
        </p:nvSpPr>
        <p:spPr>
          <a:xfrm>
            <a:off x="5742432" y="4462272"/>
            <a:ext cx="3063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DV_pressure, Oil_temperature, TP2, Motor_current, H1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Optimization with Optuna</a:t>
            </a:r>
            <a:endParaRPr lang="en-US" sz="2500" dirty="0"/>
          </a:p>
        </p:txBody>
      </p:sp>
      <p:pic>
        <p:nvPicPr>
          <p:cNvPr id="5" name="Image 0" descr="/home/claude/optuna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5303520" cy="34747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5760720" y="1005840"/>
            <a:ext cx="3200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 vs RandomizedSearchCV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760720" y="1508760"/>
            <a:ext cx="3200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5852160" y="1554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RandomizedSearchCV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852160" y="185623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Simple, sklearn native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5852160" y="210312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Random — no memory of past trials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760720" y="2606040"/>
            <a:ext cx="3200400" cy="96012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5852160" y="265176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Optuna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5852160" y="2953512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 Bayesian — learns from trials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852160" y="3200400"/>
            <a:ext cx="3017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More complex setup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5760720" y="3794760"/>
            <a:ext cx="3200400" cy="10972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5852160" y="3840480"/>
            <a:ext cx="3017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Optuna Parameters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5852160" y="4133088"/>
            <a:ext cx="3017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strategy=0.43 | n_est=358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max_depth=6 | threshold=0.06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274320" y="4572000"/>
            <a:ext cx="5212080" cy="411480"/>
          </a:xfrm>
          <a:prstGeom prst="rect">
            <a:avLst/>
          </a:prstGeom>
          <a:solidFill>
            <a:srgbClr val="FFF3CD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365760" y="4590288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D46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⚠️  Dataset reduced to 1min resolution (300k rows) for tuning speed — 15M rows would take 5+ hours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— All Experiments</a:t>
            </a:r>
            <a:endParaRPr lang="en-US" sz="2800" dirty="0"/>
          </a:p>
        </p:txBody>
      </p:sp>
      <p:pic>
        <p:nvPicPr>
          <p:cNvPr id="5" name="Image 0" descr="/home/claude/metric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82880" y="914400"/>
            <a:ext cx="8778240" cy="30175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74320" y="4069080"/>
            <a:ext cx="2560320" cy="86868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41148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SMOTE 0.05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74320" y="4416552"/>
            <a:ext cx="2560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CC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overall balance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3108960" y="406908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0891B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108960" y="4114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0.691</a:t>
            </a:r>
            <a:endParaRPr lang="en-US" sz="2000" dirty="0"/>
          </a:p>
        </p:txBody>
      </p:sp>
      <p:sp>
        <p:nvSpPr>
          <p:cNvPr id="11" name="Text 8"/>
          <p:cNvSpPr/>
          <p:nvPr/>
        </p:nvSpPr>
        <p:spPr>
          <a:xfrm>
            <a:off x="3108960" y="4507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Recall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4617720" y="406908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4617720" y="4114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0.634</a:t>
            </a:r>
            <a:endParaRPr lang="en-US" sz="2000" dirty="0"/>
          </a:p>
        </p:txBody>
      </p:sp>
      <p:sp>
        <p:nvSpPr>
          <p:cNvPr id="14" name="Text 11"/>
          <p:cNvSpPr/>
          <p:nvPr/>
        </p:nvSpPr>
        <p:spPr>
          <a:xfrm>
            <a:off x="4617720" y="4507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F1 Score</a:t>
            </a:r>
            <a:endParaRPr lang="en-US" sz="1000" dirty="0"/>
          </a:p>
        </p:txBody>
      </p:sp>
      <p:sp>
        <p:nvSpPr>
          <p:cNvPr id="15" name="Shape 12"/>
          <p:cNvSpPr/>
          <p:nvPr/>
        </p:nvSpPr>
        <p:spPr>
          <a:xfrm>
            <a:off x="6126480" y="406908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0B981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126480" y="4114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0.586</a:t>
            </a:r>
            <a:endParaRPr lang="en-US" sz="2000" dirty="0"/>
          </a:p>
        </p:txBody>
      </p:sp>
      <p:sp>
        <p:nvSpPr>
          <p:cNvPr id="17" name="Text 14"/>
          <p:cNvSpPr/>
          <p:nvPr/>
        </p:nvSpPr>
        <p:spPr>
          <a:xfrm>
            <a:off x="6126480" y="4507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Precision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7635240" y="4069080"/>
            <a:ext cx="13716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1B4F72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7635240" y="4114800"/>
            <a:ext cx="1371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4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0.364</a:t>
            </a:r>
            <a:endParaRPr lang="en-US" sz="2000" dirty="0"/>
          </a:p>
        </p:txBody>
      </p:sp>
      <p:sp>
        <p:nvSpPr>
          <p:cNvPr id="20" name="Text 17"/>
          <p:cNvSpPr/>
          <p:nvPr/>
        </p:nvSpPr>
        <p:spPr>
          <a:xfrm>
            <a:off x="7635240" y="4507992"/>
            <a:ext cx="1371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Overfit Gap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4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7724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77240"/>
            <a:ext cx="9144000" cy="54864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Lessons Learned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274320" y="10058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74320" y="1005840"/>
            <a:ext cx="594360" cy="169164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74320" y="155448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96012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is a trap with imbalanced data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15087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98% accuracy means nothing when 98% of data is one class. Always focus on Recall and F1 for the minority class.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54880" y="100584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54880" y="1005840"/>
            <a:ext cx="594360" cy="1691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54880" y="155448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5440680" y="109728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your target variable wisely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440680" y="150876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detect failures AS they happen — not before. Redefining target as pre-failure window is the real next step for predictive maintenance.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274320" y="29260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74320" y="2926080"/>
            <a:ext cx="594360" cy="169164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3474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96012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Threshold matters as much as the model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960120" y="34290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Default threshold of 0.5 catches zero failures. Lowering to 0.05-0.15 is essential when model probabilities are low due to class imbalance.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754880" y="2926080"/>
            <a:ext cx="416052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926080"/>
            <a:ext cx="594360" cy="16916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54880" y="3474720"/>
            <a:ext cx="5943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440680" y="3017520"/>
            <a:ext cx="3383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3741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SMOTE beats undersampling for rare events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440680" y="3429000"/>
            <a:ext cx="33832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Generating synthetic minority samples preserves information. Removing majority samples wastes data — critical when failures are only 1.97%.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Work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365760" y="914400"/>
            <a:ext cx="2286000" cy="4572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188720"/>
            <a:ext cx="402336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365760" y="1188720"/>
            <a:ext cx="4023360" cy="73152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  Pre-failure window as target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02920" y="1737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1 week before each failure as class 1 — enables TRUE predictive maintenance, not just detection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402336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754880" y="1188720"/>
            <a:ext cx="4023360" cy="7315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92040" y="13258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🚀  Try XGBoost &amp; LightGBM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92040" y="173736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 boosting models handle imbalanced data natively — likely to outperform Random Forest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65760" y="2926080"/>
            <a:ext cx="402336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65760" y="2926080"/>
            <a:ext cx="4023360" cy="73152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292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Deep Learning — LSTM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02920" y="3474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Sensor time series data is perfect for LSTM — captures long-term patterns before failure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754880" y="2926080"/>
            <a:ext cx="4023360" cy="1508760"/>
          </a:xfrm>
          <a:prstGeom prst="rect">
            <a:avLst/>
          </a:prstGeom>
          <a:solidFill>
            <a:srgbClr val="1A2E4A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54880" y="2926080"/>
            <a:ext cx="4023360" cy="73152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306324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🔧  Full resolution dataset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892040" y="3474720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AACCE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Retrain on 15M rows with rolling window features to capture high-frequency sensor patterns</a:t>
            </a:r>
            <a:endParaRPr lang="en-US" sz="1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9006840" y="0"/>
            <a:ext cx="137160" cy="51435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1097280"/>
            <a:ext cx="73152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6" name="Shape 4"/>
          <p:cNvSpPr/>
          <p:nvPr/>
        </p:nvSpPr>
        <p:spPr>
          <a:xfrm>
            <a:off x="2743200" y="2148840"/>
            <a:ext cx="3657600" cy="54864"/>
          </a:xfrm>
          <a:prstGeom prst="rect">
            <a:avLst/>
          </a:prstGeom>
          <a:solidFill>
            <a:srgbClr val="E84855"/>
          </a:solidFill>
          <a:ln w="12700">
            <a:solidFill>
              <a:srgbClr val="E8485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14400" y="2331720"/>
            <a:ext cx="7315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Predictive Maintenance for Railway Air Compressor — MetroPT-3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645920" y="3017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69.1%</a:t>
            </a:r>
            <a:endParaRPr lang="en-US" sz="3200" dirty="0"/>
          </a:p>
        </p:txBody>
      </p:sp>
      <p:sp>
        <p:nvSpPr>
          <p:cNvPr id="9" name="Text 7"/>
          <p:cNvSpPr/>
          <p:nvPr/>
        </p:nvSpPr>
        <p:spPr>
          <a:xfrm>
            <a:off x="164592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Recall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931920" y="3017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E848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63.4%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93192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Best F1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217920" y="3017520"/>
            <a:ext cx="19202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10+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217920" y="3611880"/>
            <a:ext cx="1920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Experiments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57200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Alejandra Cardenas · Ironhack Data Science Bootcamp ·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848</Words>
  <Application>Microsoft Office PowerPoint</Application>
  <PresentationFormat>Presentación en pantalla (16:9)</PresentationFormat>
  <Paragraphs>186</Paragraphs>
  <Slides>14</Slides>
  <Notes>14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14</vt:i4>
      </vt:variant>
    </vt:vector>
  </HeadingPairs>
  <TitlesOfParts>
    <vt:vector size="18" baseType="lpstr">
      <vt:lpstr>Arial</vt:lpstr>
      <vt:lpstr>Calibri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Predictive Maintenance for Railway Air Compressor - MetroPT-3</dc:title>
  <dc:subject>PptxGenJS Presentation</dc:subject>
  <dc:creator>PptxGenJS</dc:creator>
  <cp:lastModifiedBy>Alejandra Cardenas</cp:lastModifiedBy>
  <cp:revision>1</cp:revision>
  <dcterms:created xsi:type="dcterms:W3CDTF">2026-03-13T00:58:53Z</dcterms:created>
  <dcterms:modified xsi:type="dcterms:W3CDTF">2026-03-13T01:05:37Z</dcterms:modified>
</cp:coreProperties>
</file>